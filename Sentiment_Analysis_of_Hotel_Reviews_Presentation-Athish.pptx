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2233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B2233"/>
                </a:solidFill>
                <a:latin typeface="Arial"/>
              </a:rPr>
              <a:t>Sentiment Class Distribution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Reviews</c:v>
                </c:pt>
              </c:strCache>
            </c:strRef>
          </c:tx>
          <c:spPr>
            <a:solidFill>
              <a:srgbClr val="F2A65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2F2-415A-9FA3-9E5B34BCD8D6}"/>
              </c:ext>
            </c:extLst>
          </c:dPt>
          <c:dPt>
            <c:idx val="1"/>
            <c:invertIfNegative val="0"/>
            <c:bubble3D val="0"/>
            <c:spPr>
              <a:solidFill>
                <a:srgbClr val="E860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2F2-415A-9FA3-9E5B34BCD8D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B22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Happy</c:v>
                </c:pt>
                <c:pt idx="1">
                  <c:v>Not Happy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26521</c:v>
                </c:pt>
                <c:pt idx="1">
                  <c:v>12411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2F2-415A-9FA3-9E5B34BCD8D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B22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7ED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B22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4153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065A82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1C7293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846320"/>
            <a:ext cx="3291840" cy="329184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pic>
        <p:nvPicPr>
          <p:cNvPr id="5" name="Image 0" descr="icons/comments_F2A65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65836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 PROJECT PRESENTATION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2286000"/>
            <a:ext cx="9601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Sentiment Analysis of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Hotel Reviews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658368" y="41605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Classifying guest reviews as Happy or Not Happy using NLP and Machine Learning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58368" y="4892040"/>
            <a:ext cx="2011680" cy="0"/>
          </a:xfrm>
          <a:prstGeom prst="line">
            <a:avLst/>
          </a:prstGeom>
          <a:noFill/>
          <a:ln w="31750">
            <a:solidFill>
              <a:srgbClr val="F2A65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512064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M.Athish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300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 — Generative AI Specialization</a:t>
            </a:r>
            <a:endParaRPr lang="en-US" sz="16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Alliance University, Bangalore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74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FE8EE"/>
            </a:solidFill>
            <a:prstDash val="solid"/>
          </a:ln>
          <a:effectLst>
            <a:outerShdw blurRad="76200" dist="25400" dir="5400000" algn="bl" rotWithShape="0">
              <a:srgbClr val="1C2938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801368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7E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pic>
        <p:nvPicPr>
          <p:cNvPr id="6" name="Image 0" descr="icons/book_1C729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947672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57400" y="1691640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48640" y="2862072"/>
            <a:ext cx="5074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FE8EE"/>
            </a:solidFill>
            <a:prstDash val="solid"/>
          </a:ln>
          <a:effectLst>
            <a:outerShdw blurRad="76200" dist="25400" dir="5400000" algn="bl" rotWithShape="0">
              <a:srgbClr val="1C2938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13232" y="297180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7E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pic>
        <p:nvPicPr>
          <p:cNvPr id="10" name="Image 1" descr="icons/search_1C729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3040" y="3118104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57400" y="2862072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&amp; Research Gap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548640" y="4032504"/>
            <a:ext cx="5074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FE8EE"/>
            </a:solidFill>
            <a:prstDash val="solid"/>
          </a:ln>
          <a:effectLst>
            <a:outerShdw blurRad="76200" dist="25400" dir="5400000" algn="bl" rotWithShape="0">
              <a:srgbClr val="1C2938">
                <a:alpha val="1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713232" y="4142232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7E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pic>
        <p:nvPicPr>
          <p:cNvPr id="14" name="Image 2" descr="icons/target_1C729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3040" y="4288536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57400" y="4032504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Requirement Analysis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548640" y="5202936"/>
            <a:ext cx="5074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FE8EE"/>
            </a:solidFill>
            <a:prstDash val="solid"/>
          </a:ln>
          <a:effectLst>
            <a:outerShdw blurRad="76200" dist="25400" dir="5400000" algn="bl" rotWithShape="0">
              <a:srgbClr val="1C2938">
                <a:alpha val="12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713232" y="5312664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7E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pic>
        <p:nvPicPr>
          <p:cNvPr id="18" name="Image 3" descr="icons/cogs_1C729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3040" y="5458968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2057400" y="5202936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Workflow</a:t>
            </a:r>
            <a:endParaRPr lang="en-US" sz="1450" dirty="0"/>
          </a:p>
        </p:txBody>
      </p:sp>
      <p:sp>
        <p:nvSpPr>
          <p:cNvPr id="20" name="Shape 14"/>
          <p:cNvSpPr/>
          <p:nvPr/>
        </p:nvSpPr>
        <p:spPr>
          <a:xfrm>
            <a:off x="5989320" y="1691640"/>
            <a:ext cx="5074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FE8EE"/>
            </a:solidFill>
            <a:prstDash val="solid"/>
          </a:ln>
          <a:effectLst>
            <a:outerShdw blurRad="76200" dist="25400" dir="5400000" algn="bl" rotWithShape="0">
              <a:srgbClr val="1C2938">
                <a:alpha val="12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6153912" y="1801368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7E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pic>
        <p:nvPicPr>
          <p:cNvPr id="22" name="Image 4" descr="icons/layers_1C729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3720" y="1947672"/>
            <a:ext cx="457200" cy="4572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498080" y="1691640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Tech Stack</a:t>
            </a:r>
            <a:endParaRPr lang="en-US" sz="1450" dirty="0"/>
          </a:p>
        </p:txBody>
      </p:sp>
      <p:sp>
        <p:nvSpPr>
          <p:cNvPr id="24" name="Shape 17"/>
          <p:cNvSpPr/>
          <p:nvPr/>
        </p:nvSpPr>
        <p:spPr>
          <a:xfrm>
            <a:off x="5989320" y="2862072"/>
            <a:ext cx="5074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FE8EE"/>
            </a:solidFill>
            <a:prstDash val="solid"/>
          </a:ln>
          <a:effectLst>
            <a:outerShdw blurRad="76200" dist="25400" dir="5400000" algn="bl" rotWithShape="0">
              <a:srgbClr val="1C2938">
                <a:alpha val="12000"/>
              </a:srgbClr>
            </a:outerShdw>
          </a:effectLst>
        </p:spPr>
      </p:sp>
      <p:sp>
        <p:nvSpPr>
          <p:cNvPr id="25" name="Text 18"/>
          <p:cNvSpPr/>
          <p:nvPr/>
        </p:nvSpPr>
        <p:spPr>
          <a:xfrm>
            <a:off x="6153912" y="297180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7E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pic>
        <p:nvPicPr>
          <p:cNvPr id="26" name="Image 5" descr="icons/database_1C729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3720" y="3118104"/>
            <a:ext cx="457200" cy="4572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498080" y="2862072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Dataset</a:t>
            </a:r>
            <a:endParaRPr lang="en-US" sz="1450" dirty="0"/>
          </a:p>
        </p:txBody>
      </p:sp>
      <p:sp>
        <p:nvSpPr>
          <p:cNvPr id="28" name="Shape 20"/>
          <p:cNvSpPr/>
          <p:nvPr/>
        </p:nvSpPr>
        <p:spPr>
          <a:xfrm>
            <a:off x="5989320" y="4032504"/>
            <a:ext cx="5074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FE8EE"/>
            </a:solidFill>
            <a:prstDash val="solid"/>
          </a:ln>
          <a:effectLst>
            <a:outerShdw blurRad="76200" dist="25400" dir="5400000" algn="bl" rotWithShape="0">
              <a:srgbClr val="1C2938">
                <a:alpha val="12000"/>
              </a:srgbClr>
            </a:outerShdw>
          </a:effectLst>
        </p:spPr>
      </p:sp>
      <p:sp>
        <p:nvSpPr>
          <p:cNvPr id="29" name="Text 21"/>
          <p:cNvSpPr/>
          <p:nvPr/>
        </p:nvSpPr>
        <p:spPr>
          <a:xfrm>
            <a:off x="6153912" y="4142232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7E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600" dirty="0"/>
          </a:p>
        </p:txBody>
      </p:sp>
      <p:pic>
        <p:nvPicPr>
          <p:cNvPr id="30" name="Image 6" descr="icons/chartbar_1C729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03720" y="4288536"/>
            <a:ext cx="457200" cy="45720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498080" y="4032504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Results, Evaluation &amp; Live Demo</a:t>
            </a:r>
            <a:endParaRPr lang="en-US" sz="1450" dirty="0"/>
          </a:p>
        </p:txBody>
      </p:sp>
      <p:sp>
        <p:nvSpPr>
          <p:cNvPr id="32" name="Shape 23"/>
          <p:cNvSpPr/>
          <p:nvPr/>
        </p:nvSpPr>
        <p:spPr>
          <a:xfrm>
            <a:off x="5989320" y="5202936"/>
            <a:ext cx="5074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FE8EE"/>
            </a:solidFill>
            <a:prstDash val="solid"/>
          </a:ln>
          <a:effectLst>
            <a:outerShdw blurRad="76200" dist="25400" dir="5400000" algn="bl" rotWithShape="0">
              <a:srgbClr val="1C2938">
                <a:alpha val="12000"/>
              </a:srgbClr>
            </a:outerShdw>
          </a:effectLst>
        </p:spPr>
      </p:sp>
      <p:sp>
        <p:nvSpPr>
          <p:cNvPr id="33" name="Text 24"/>
          <p:cNvSpPr/>
          <p:nvPr/>
        </p:nvSpPr>
        <p:spPr>
          <a:xfrm>
            <a:off x="6153912" y="5312664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7E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600" dirty="0"/>
          </a:p>
        </p:txBody>
      </p:sp>
      <p:pic>
        <p:nvPicPr>
          <p:cNvPr id="34" name="Image 7" descr="icons/bulb_1C7293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03720" y="5458968"/>
            <a:ext cx="457200" cy="45720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7498080" y="5202936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Conclusion, Future Scope &amp; References</a:t>
            </a:r>
            <a:endParaRPr lang="en-US" sz="1450" dirty="0"/>
          </a:p>
        </p:txBody>
      </p:sp>
      <p:sp>
        <p:nvSpPr>
          <p:cNvPr id="36" name="Text 26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 of Hotel Reviews  |  Rajesh · MCA (GenAI) · Alliance University</a:t>
            </a:r>
            <a:endParaRPr lang="en-US" sz="900" dirty="0"/>
          </a:p>
        </p:txBody>
      </p:sp>
      <p:sp>
        <p:nvSpPr>
          <p:cNvPr id="37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160520"/>
          </a:xfrm>
          <a:prstGeom prst="roundRect">
            <a:avLst>
              <a:gd name="adj" fmla="val 1758"/>
            </a:avLst>
          </a:prstGeom>
          <a:solidFill>
            <a:srgbClr val="065A82"/>
          </a:solidFill>
          <a:ln/>
        </p:spPr>
      </p:sp>
      <p:pic>
        <p:nvPicPr>
          <p:cNvPr id="5" name="Image 0" descr="icons/hote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8745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90195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8680" y="2514600"/>
            <a:ext cx="47548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5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 receive thousands of text reviews across booking platforms every day.
Star ratings alone don't explain WHY a guest was unhappy — the reasons live in the written text.
Manually reading every review to gauge sentiment is slow, expensive, and impossible to scale.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72200" y="1600200"/>
            <a:ext cx="546811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  <a:effectLst>
            <a:outerShdw blurRad="76200" dist="25400" dir="5400000" algn="bl" rotWithShape="0">
              <a:srgbClr val="1C2938">
                <a:alpha val="10000"/>
              </a:srgbClr>
            </a:outerShdw>
          </a:effectLst>
        </p:spPr>
      </p:sp>
      <p:pic>
        <p:nvPicPr>
          <p:cNvPr id="9" name="Image 1" descr="icons/frown_E8604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182880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40880" y="184708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446520" y="2331720"/>
            <a:ext cx="491947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B4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 rely on star ratings and shallow keyword checks, which fail to capture the true sentiment buried in free-form guest reviews — leading hotels to miss real service issues.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172200" y="3749040"/>
            <a:ext cx="546811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  <a:effectLst>
            <a:outerShdw blurRad="76200" dist="25400" dir="5400000" algn="bl" rotWithShape="0">
              <a:srgbClr val="1C2938">
                <a:alpha val="10000"/>
              </a:srgbClr>
            </a:outerShdw>
          </a:effectLst>
        </p:spPr>
      </p:sp>
      <p:pic>
        <p:nvPicPr>
          <p:cNvPr id="13" name="Image 2" descr="icons/target_F2A65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397764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040880" y="399592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446520" y="4480560"/>
            <a:ext cx="491947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B4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machine learning model that automatically classifies a hotel review as “Happy” or “Not Happy,” and wrap it in a live, interactive tool for instant predictions.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 of Hotel Reviews  |  Rajesh · MCA (GenAI) · Alliance University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 &amp; Research Gap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228600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Result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Comparative Study on Hotel Reviews (I2CT, 2023)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Supervised, unsupervised &amp; pre-trained models (SVM, XGBoost, VADER, TextBlob)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best: 0.8516 weighted 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 + Random Forest ensemble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Aspect-based sentiment on scraped TripAdvisor reviews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~94% accuracy, high compute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Word2Vec + Knowledge Graph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 embeddings + SVM with over-sampling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0.879 F1 on travel reviews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548640" y="416052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21295C"/>
          </a:solidFill>
          <a:ln/>
        </p:spPr>
      </p:sp>
      <p:pic>
        <p:nvPicPr>
          <p:cNvPr id="6" name="Image 0" descr="icons/bulb_F2A65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434840"/>
            <a:ext cx="548640" cy="5486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00200" y="44165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1600200" y="4754880"/>
            <a:ext cx="9692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5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reported models (BERT ensembles, tuned SVMs) need heavy compute and long training times. There is room for a lightweight, fast, and easily deployable TF-IDF + Logistic Regression pipeline that still delivers strong, near real-time sentiment predictions for practical use.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 of Hotel Reviews  |  Rajesh · MCA (GenAI) · Alliance University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&amp; Requirement Analysis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  <a:effectLst>
            <a:outerShdw blurRad="63500" dist="25400" dir="5400000" algn="bl" rotWithShape="0">
              <a:srgbClr val="1C2938">
                <a:alpha val="10000"/>
              </a:srgbClr>
            </a:outerShdw>
          </a:effectLst>
        </p:spPr>
      </p:sp>
      <p:pic>
        <p:nvPicPr>
          <p:cNvPr id="6" name="Image 0" descr="icons/check_1C729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212848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670048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B4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each hotel review as Happy or Not Happy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297680" y="20116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  <a:effectLst>
            <a:outerShdw blurRad="63500" dist="25400" dir="5400000" algn="bl" rotWithShape="0">
              <a:srgbClr val="1C2938">
                <a:alpha val="10000"/>
              </a:srgbClr>
            </a:outerShdw>
          </a:effectLst>
        </p:spPr>
      </p:sp>
      <p:pic>
        <p:nvPicPr>
          <p:cNvPr id="9" name="Image 1" descr="icons/chartline_1C729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2212848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26280" y="2670048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B4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strong accuracy &amp; F1-score on held-out test data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8046720" y="20116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  <a:effectLst>
            <a:outerShdw blurRad="63500" dist="25400" dir="5400000" algn="bl" rotWithShape="0">
              <a:srgbClr val="1C2938">
                <a:alpha val="10000"/>
              </a:srgbClr>
            </a:outerShdw>
          </a:effectLst>
        </p:spPr>
      </p:sp>
      <p:pic>
        <p:nvPicPr>
          <p:cNvPr id="12" name="Image 2" descr="icons/laptop_1C729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0" y="2212848"/>
            <a:ext cx="384048" cy="3840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75320" y="2670048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B4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live, interactive prediction interface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548640" y="374904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065A82"/>
          </a:solidFill>
          <a:ln/>
        </p:spPr>
      </p:sp>
      <p:sp>
        <p:nvSpPr>
          <p:cNvPr id="15" name="Text 10"/>
          <p:cNvSpPr/>
          <p:nvPr/>
        </p:nvSpPr>
        <p:spPr>
          <a:xfrm>
            <a:off x="822960" y="391363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822960" y="4315968"/>
            <a:ext cx="4846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5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a raw hotel review as text input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5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preprocess text (stopwords, lemmatization)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5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 text and predict sentiment label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5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the predicted sentiment instantly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172200" y="3749040"/>
            <a:ext cx="5468112" cy="2103120"/>
          </a:xfrm>
          <a:prstGeom prst="roundRect">
            <a:avLst>
              <a:gd name="adj" fmla="val 3478"/>
            </a:avLst>
          </a:prstGeom>
          <a:solidFill>
            <a:srgbClr val="21295C"/>
          </a:solidFill>
          <a:ln/>
        </p:spPr>
      </p:sp>
      <p:sp>
        <p:nvSpPr>
          <p:cNvPr id="18" name="Text 13"/>
          <p:cNvSpPr/>
          <p:nvPr/>
        </p:nvSpPr>
        <p:spPr>
          <a:xfrm>
            <a:off x="6446520" y="391363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46520" y="4315968"/>
            <a:ext cx="4846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5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classification accuracy on imbalanced data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5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near real-time inference for live use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5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usable interface (no ML expertise needed)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5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reliably within a Google Colab environment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 of Hotel Reviews  |  Rajesh · MCA (GenAI) · Alliance University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&amp; Workflow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1630680" cy="2331720"/>
          </a:xfrm>
          <a:prstGeom prst="roundRect">
            <a:avLst>
              <a:gd name="adj" fmla="val 4486"/>
            </a:avLst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1043940" y="237744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icons/database_065A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812" y="249631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95272" y="220370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FE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21792" y="3108960"/>
            <a:ext cx="1484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40080" y="3611880"/>
            <a:ext cx="1447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E5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38,932 labelled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E5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reviews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179320" y="2994660"/>
            <a:ext cx="256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2435352" y="2148840"/>
            <a:ext cx="1630680" cy="2331720"/>
          </a:xfrm>
          <a:prstGeom prst="roundRect">
            <a:avLst>
              <a:gd name="adj" fmla="val 4486"/>
            </a:avLst>
          </a:prstGeom>
          <a:solidFill>
            <a:srgbClr val="1C7293"/>
          </a:solidFill>
          <a:ln/>
        </p:spPr>
      </p:sp>
      <p:sp>
        <p:nvSpPr>
          <p:cNvPr id="12" name="Shape 9"/>
          <p:cNvSpPr/>
          <p:nvPr/>
        </p:nvSpPr>
        <p:spPr>
          <a:xfrm>
            <a:off x="2930652" y="237744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icons/filter_065A8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9524" y="2496312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81984" y="220370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FE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508504" y="3108960"/>
            <a:ext cx="1484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2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2526792" y="3611880"/>
            <a:ext cx="1447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E5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tokenize,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E5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stopwords,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E5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lemmatize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066032" y="2994660"/>
            <a:ext cx="256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4322064" y="2148840"/>
            <a:ext cx="1630680" cy="2331720"/>
          </a:xfrm>
          <a:prstGeom prst="roundRect">
            <a:avLst>
              <a:gd name="adj" fmla="val 4486"/>
            </a:avLst>
          </a:prstGeom>
          <a:solidFill>
            <a:srgbClr val="065A82"/>
          </a:solidFill>
          <a:ln/>
        </p:spPr>
      </p:sp>
      <p:sp>
        <p:nvSpPr>
          <p:cNvPr id="19" name="Shape 15"/>
          <p:cNvSpPr/>
          <p:nvPr/>
        </p:nvSpPr>
        <p:spPr>
          <a:xfrm>
            <a:off x="4817364" y="237744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2" descr="icons/layers_065A8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6236" y="2496312"/>
            <a:ext cx="402336" cy="40233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568696" y="220370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FE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395216" y="3108960"/>
            <a:ext cx="1484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2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Vectorization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4413504" y="3611880"/>
            <a:ext cx="1447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E5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features,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E5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 + bi-grams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5952744" y="2994660"/>
            <a:ext cx="256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0"/>
          <p:cNvSpPr/>
          <p:nvPr/>
        </p:nvSpPr>
        <p:spPr>
          <a:xfrm>
            <a:off x="6208776" y="2148840"/>
            <a:ext cx="1630680" cy="2331720"/>
          </a:xfrm>
          <a:prstGeom prst="roundRect">
            <a:avLst>
              <a:gd name="adj" fmla="val 4486"/>
            </a:avLst>
          </a:prstGeom>
          <a:solidFill>
            <a:srgbClr val="1C7293"/>
          </a:solidFill>
          <a:ln/>
        </p:spPr>
      </p:sp>
      <p:sp>
        <p:nvSpPr>
          <p:cNvPr id="26" name="Shape 21"/>
          <p:cNvSpPr/>
          <p:nvPr/>
        </p:nvSpPr>
        <p:spPr>
          <a:xfrm>
            <a:off x="6704076" y="237744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3" descr="icons/cogs_065A8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2948" y="2496312"/>
            <a:ext cx="402336" cy="40233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455408" y="220370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FE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6281928" y="3108960"/>
            <a:ext cx="1484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</a:t>
            </a:r>
            <a:endParaRPr lang="en-US" sz="12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6300216" y="3611880"/>
            <a:ext cx="1447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E5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train /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E5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test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7839456" y="2994660"/>
            <a:ext cx="256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2" name="Shape 26"/>
          <p:cNvSpPr/>
          <p:nvPr/>
        </p:nvSpPr>
        <p:spPr>
          <a:xfrm>
            <a:off x="8095488" y="2148840"/>
            <a:ext cx="1630680" cy="2331720"/>
          </a:xfrm>
          <a:prstGeom prst="roundRect">
            <a:avLst>
              <a:gd name="adj" fmla="val 4486"/>
            </a:avLst>
          </a:prstGeom>
          <a:solidFill>
            <a:srgbClr val="065A82"/>
          </a:solidFill>
          <a:ln/>
        </p:spPr>
      </p:sp>
      <p:sp>
        <p:nvSpPr>
          <p:cNvPr id="33" name="Shape 27"/>
          <p:cNvSpPr/>
          <p:nvPr/>
        </p:nvSpPr>
        <p:spPr>
          <a:xfrm>
            <a:off x="8590788" y="237744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4" name="Image 4" descr="icons/brain_065A8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09660" y="2496312"/>
            <a:ext cx="402336" cy="402336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342120" y="220370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FE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8168640" y="3108960"/>
            <a:ext cx="1484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</a:t>
            </a:r>
            <a:endParaRPr lang="en-US" sz="12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250" dirty="0"/>
          </a:p>
        </p:txBody>
      </p:sp>
      <p:sp>
        <p:nvSpPr>
          <p:cNvPr id="37" name="Text 30"/>
          <p:cNvSpPr/>
          <p:nvPr/>
        </p:nvSpPr>
        <p:spPr>
          <a:xfrm>
            <a:off x="8186928" y="3611880"/>
            <a:ext cx="1447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E5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class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E5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</a:t>
            </a:r>
            <a:endParaRPr lang="en-US" sz="1000" dirty="0"/>
          </a:p>
        </p:txBody>
      </p:sp>
      <p:sp>
        <p:nvSpPr>
          <p:cNvPr id="38" name="Text 31"/>
          <p:cNvSpPr/>
          <p:nvPr/>
        </p:nvSpPr>
        <p:spPr>
          <a:xfrm>
            <a:off x="9726168" y="2994660"/>
            <a:ext cx="256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9" name="Shape 32"/>
          <p:cNvSpPr/>
          <p:nvPr/>
        </p:nvSpPr>
        <p:spPr>
          <a:xfrm>
            <a:off x="9982200" y="2148840"/>
            <a:ext cx="1630680" cy="2331720"/>
          </a:xfrm>
          <a:prstGeom prst="roundRect">
            <a:avLst>
              <a:gd name="adj" fmla="val 4486"/>
            </a:avLst>
          </a:prstGeom>
          <a:solidFill>
            <a:srgbClr val="1C7293"/>
          </a:solidFill>
          <a:ln/>
        </p:spPr>
      </p:sp>
      <p:sp>
        <p:nvSpPr>
          <p:cNvPr id="40" name="Shape 33"/>
          <p:cNvSpPr/>
          <p:nvPr/>
        </p:nvSpPr>
        <p:spPr>
          <a:xfrm>
            <a:off x="10477500" y="237744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1" name="Image 5" descr="icons/chartbar_065A8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96372" y="2496312"/>
            <a:ext cx="402336" cy="402336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11228832" y="220370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FE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43" name="Text 35"/>
          <p:cNvSpPr/>
          <p:nvPr/>
        </p:nvSpPr>
        <p:spPr>
          <a:xfrm>
            <a:off x="10055352" y="3108960"/>
            <a:ext cx="1484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50" dirty="0"/>
          </a:p>
        </p:txBody>
      </p:sp>
      <p:sp>
        <p:nvSpPr>
          <p:cNvPr id="44" name="Text 36"/>
          <p:cNvSpPr/>
          <p:nvPr/>
        </p:nvSpPr>
        <p:spPr>
          <a:xfrm>
            <a:off x="10073640" y="3611880"/>
            <a:ext cx="1447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E5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E5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Recall, F1</a:t>
            </a:r>
            <a:endParaRPr lang="en-US" sz="1000" dirty="0"/>
          </a:p>
        </p:txBody>
      </p:sp>
      <p:sp>
        <p:nvSpPr>
          <p:cNvPr id="45" name="Text 37"/>
          <p:cNvSpPr/>
          <p:nvPr/>
        </p:nvSpPr>
        <p:spPr>
          <a:xfrm>
            <a:off x="548640" y="4800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implemented end-to-end in a single Google Colab notebook, from raw CSV to a live prediction widget.</a:t>
            </a:r>
            <a:endParaRPr lang="en-US" sz="1250" dirty="0"/>
          </a:p>
        </p:txBody>
      </p:sp>
      <p:sp>
        <p:nvSpPr>
          <p:cNvPr id="46" name="Text 38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 of Hotel Reviews  |  Rajesh · MCA (GenAI) · Alliance University</a:t>
            </a:r>
            <a:endParaRPr lang="en-US" sz="900" dirty="0"/>
          </a:p>
        </p:txBody>
      </p:sp>
      <p:sp>
        <p:nvSpPr>
          <p:cNvPr id="47" name="Text 3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&amp; Technology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978762" cy="960120"/>
          </a:xfrm>
          <a:prstGeom prst="roundRect">
            <a:avLst>
              <a:gd name="adj" fmla="val 7619"/>
            </a:avLst>
          </a:prstGeom>
          <a:solidFill>
            <a:srgbClr val="0D3B5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691640"/>
            <a:ext cx="186903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CSV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527402" y="1691640"/>
            <a:ext cx="292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820010" y="1691640"/>
            <a:ext cx="1978762" cy="960120"/>
          </a:xfrm>
          <a:prstGeom prst="roundRect">
            <a:avLst>
              <a:gd name="adj" fmla="val 7619"/>
            </a:avLst>
          </a:prstGeom>
          <a:solidFill>
            <a:srgbClr val="0D3B5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74874" y="1691640"/>
            <a:ext cx="186903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798771" y="1691640"/>
            <a:ext cx="292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91379" y="1691640"/>
            <a:ext cx="1978762" cy="960120"/>
          </a:xfrm>
          <a:prstGeom prst="roundRect">
            <a:avLst>
              <a:gd name="adj" fmla="val 7619"/>
            </a:avLst>
          </a:prstGeom>
          <a:solidFill>
            <a:srgbClr val="0D3B5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46243" y="1691640"/>
            <a:ext cx="186903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070141" y="1691640"/>
            <a:ext cx="292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62749" y="1691640"/>
            <a:ext cx="1978762" cy="960120"/>
          </a:xfrm>
          <a:prstGeom prst="roundRect">
            <a:avLst>
              <a:gd name="adj" fmla="val 7619"/>
            </a:avLst>
          </a:prstGeom>
          <a:solidFill>
            <a:srgbClr val="0D3B5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17613" y="1691640"/>
            <a:ext cx="186903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Model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341510" y="1691640"/>
            <a:ext cx="292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634118" y="1691640"/>
            <a:ext cx="1978762" cy="960120"/>
          </a:xfrm>
          <a:prstGeom prst="roundRect">
            <a:avLst>
              <a:gd name="adj" fmla="val 7619"/>
            </a:avLst>
          </a:prstGeom>
          <a:solidFill>
            <a:srgbClr val="0D3B5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88982" y="1691640"/>
            <a:ext cx="186903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 (UI)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3063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352044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0D3B57"/>
          </a:solidFill>
          <a:ln w="12700">
            <a:solidFill>
              <a:srgbClr val="18506E"/>
            </a:solidFill>
            <a:prstDash val="solid"/>
          </a:ln>
        </p:spPr>
      </p:sp>
      <p:pic>
        <p:nvPicPr>
          <p:cNvPr id="20" name="Image 0" descr="icons/code_F2A65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703320"/>
            <a:ext cx="384048" cy="38404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49808" y="414223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49808" y="441655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297680" y="352044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0D3B57"/>
          </a:solidFill>
          <a:ln w="12700">
            <a:solidFill>
              <a:srgbClr val="18506E"/>
            </a:solidFill>
            <a:prstDash val="solid"/>
          </a:ln>
        </p:spPr>
      </p:sp>
      <p:pic>
        <p:nvPicPr>
          <p:cNvPr id="24" name="Image 1" descr="icons/database_F2A65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8848" y="3703320"/>
            <a:ext cx="384048" cy="38404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4498848" y="414223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&amp; NumPy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4498848" y="441655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handling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8046720" y="352044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0D3B57"/>
          </a:solidFill>
          <a:ln w="12700">
            <a:solidFill>
              <a:srgbClr val="18506E"/>
            </a:solidFill>
            <a:prstDash val="solid"/>
          </a:ln>
        </p:spPr>
      </p:sp>
      <p:pic>
        <p:nvPicPr>
          <p:cNvPr id="28" name="Image 2" descr="icons/book_F2A65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7888" y="3703320"/>
            <a:ext cx="384048" cy="384048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8247888" y="414223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8247888" y="441655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Preprocessing, stopwords, lemmatizer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548640" y="493776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0D3B57"/>
          </a:solidFill>
          <a:ln w="12700">
            <a:solidFill>
              <a:srgbClr val="18506E"/>
            </a:solidFill>
            <a:prstDash val="solid"/>
          </a:ln>
        </p:spPr>
      </p:sp>
      <p:pic>
        <p:nvPicPr>
          <p:cNvPr id="32" name="Image 3" descr="icons/brain_F2A65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5120640"/>
            <a:ext cx="384048" cy="38404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49808" y="555955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749808" y="583387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TF-IDF, Logistic Regression, metrics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4297680" y="493776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0D3B57"/>
          </a:solidFill>
          <a:ln w="12700">
            <a:solidFill>
              <a:srgbClr val="18506E"/>
            </a:solidFill>
            <a:prstDash val="solid"/>
          </a:ln>
        </p:spPr>
      </p:sp>
      <p:pic>
        <p:nvPicPr>
          <p:cNvPr id="36" name="Image 4" descr="icons/chartbar_F2A65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98848" y="5120640"/>
            <a:ext cx="384048" cy="384048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4498848" y="555955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/ Seaborn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4498848" y="583387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visuals</a:t>
            </a:r>
            <a:endParaRPr lang="en-US" sz="1050" dirty="0"/>
          </a:p>
        </p:txBody>
      </p:sp>
      <p:sp>
        <p:nvSpPr>
          <p:cNvPr id="39" name="Shape 32"/>
          <p:cNvSpPr/>
          <p:nvPr/>
        </p:nvSpPr>
        <p:spPr>
          <a:xfrm>
            <a:off x="8046720" y="493776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0D3B57"/>
          </a:solidFill>
          <a:ln w="12700">
            <a:solidFill>
              <a:srgbClr val="18506E"/>
            </a:solidFill>
            <a:prstDash val="solid"/>
          </a:ln>
        </p:spPr>
      </p:sp>
      <p:pic>
        <p:nvPicPr>
          <p:cNvPr id="40" name="Image 5" descr="icons/laptop_F2A65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47888" y="5120640"/>
            <a:ext cx="384048" cy="384048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8247888" y="555955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+ ipywidgets</a:t>
            </a:r>
            <a:endParaRPr lang="en-US" sz="1300" dirty="0"/>
          </a:p>
        </p:txBody>
      </p:sp>
      <p:sp>
        <p:nvSpPr>
          <p:cNvPr id="42" name="Text 34"/>
          <p:cNvSpPr/>
          <p:nvPr/>
        </p:nvSpPr>
        <p:spPr>
          <a:xfrm>
            <a:off x="8247888" y="583387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&amp; live demo UI</a:t>
            </a:r>
            <a:endParaRPr lang="en-US" sz="1050" dirty="0"/>
          </a:p>
        </p:txBody>
      </p:sp>
      <p:sp>
        <p:nvSpPr>
          <p:cNvPr id="43" name="Text 35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 of Hotel Reviews  |  Rajesh · MCA (GenAI) · Alliance University</a:t>
            </a:r>
            <a:endParaRPr lang="en-US" sz="900" dirty="0"/>
          </a:p>
        </p:txBody>
      </p:sp>
      <p:sp>
        <p:nvSpPr>
          <p:cNvPr id="44" name="Text 3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&amp; Dataset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1206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1E8EC"/>
            </a:solidFill>
            <a:prstDash val="solid"/>
          </a:ln>
          <a:effectLst>
            <a:outerShdw blurRad="76200" dist="25400" dir="5400000" algn="bl" rotWithShape="0">
              <a:srgbClr val="1C2938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Snapshot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38,932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hotel reviews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91840" y="22402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 / 30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291840" y="2834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1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685800" y="3337560"/>
          <a:ext cx="484632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Shape 8"/>
          <p:cNvSpPr/>
          <p:nvPr/>
        </p:nvSpPr>
        <p:spPr>
          <a:xfrm>
            <a:off x="5989320" y="1645920"/>
            <a:ext cx="5623560" cy="1965960"/>
          </a:xfrm>
          <a:prstGeom prst="roundRect">
            <a:avLst>
              <a:gd name="adj" fmla="val 3721"/>
            </a:avLst>
          </a:prstGeom>
          <a:solidFill>
            <a:srgbClr val="065A82"/>
          </a:solidFill>
          <a:ln/>
        </p:spPr>
      </p:sp>
      <p:pic>
        <p:nvPicPr>
          <p:cNvPr id="12" name="Image 0" descr="icons/filte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182880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766560" y="184708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Preprocessing Pipeline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263640" y="2331720"/>
            <a:ext cx="5074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5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 → Remove URLs &amp; digits → Strip punctuation → Remove stopwords → Lemmatize (NLTK WordNet)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989320" y="3794760"/>
            <a:ext cx="5623560" cy="2011680"/>
          </a:xfrm>
          <a:prstGeom prst="roundRect">
            <a:avLst>
              <a:gd name="adj" fmla="val 3636"/>
            </a:avLst>
          </a:prstGeom>
          <a:solidFill>
            <a:srgbClr val="21295C"/>
          </a:solidFill>
          <a:ln/>
        </p:spPr>
      </p:sp>
      <p:pic>
        <p:nvPicPr>
          <p:cNvPr id="16" name="Image 1" descr="icons/brain_F2A65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5352" y="3977640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66560" y="399592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Configuration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263640" y="4434840"/>
            <a:ext cx="5074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E5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TF-IDF:  max_features = 10,000,  ngram_range = (1, 2)
Classifier:  Logistic Regression,  class_weight = “balanced”
Handles the 2:1 class imbalance between Happy and Not Happy reviews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 of Hotel Reviews  |  Rajesh · MCA (GenAI) · Alliance University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Results, Evaluation &amp; Live Demo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7335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88.3%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35915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60020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3337560" y="167335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93.3%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337560" y="235915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60020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167335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89.3%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126480" y="235915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15400" y="160020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2A65A"/>
          </a:solidFill>
          <a:ln/>
        </p:spPr>
      </p:sp>
      <p:sp>
        <p:nvSpPr>
          <p:cNvPr id="14" name="Text 12"/>
          <p:cNvSpPr/>
          <p:nvPr/>
        </p:nvSpPr>
        <p:spPr>
          <a:xfrm>
            <a:off x="8915400" y="167335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91.3%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915400" y="235915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3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063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Performance</a:t>
            </a:r>
            <a:endParaRPr lang="en-US" sz="13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29000"/>
          <a:ext cx="5394960" cy="105156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6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52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Happy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Happy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548640" y="46177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 11,680 held-out reviews (30% test split) from 38,932 total.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263640" y="3063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Prediction Demo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263640" y="3429000"/>
            <a:ext cx="5349240" cy="1737360"/>
          </a:xfrm>
          <a:prstGeom prst="roundRect">
            <a:avLst>
              <a:gd name="adj" fmla="val 3158"/>
            </a:avLst>
          </a:prstGeom>
          <a:solidFill>
            <a:srgbClr val="1B1B1F"/>
          </a:solidFill>
          <a:ln w="12700">
            <a:solidFill>
              <a:srgbClr val="0B2233"/>
            </a:solidFill>
            <a:prstDash val="solid"/>
          </a:ln>
          <a:effectLst>
            <a:outerShdw blurRad="101600" dist="38100" dir="5400000" algn="bl" rotWithShape="0">
              <a:srgbClr val="1C2938">
                <a:alpha val="18000"/>
              </a:srgbClr>
            </a:outerShdw>
          </a:effectLst>
        </p:spPr>
      </p:sp>
      <p:pic>
        <p:nvPicPr>
          <p:cNvPr id="21" name="Image 0" descr="/home/claude/work/dem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3520440"/>
            <a:ext cx="5120640" cy="128016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263640" y="5257800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widget built with ipywidgets in Google Colab — instant sentiment on any typed review.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 of Hotel Reviews  |  Rajesh · MCA (GenAI) · Alliance University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Conclusion, Future Scope &amp; References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0D3B57"/>
          </a:solidFill>
          <a:ln/>
        </p:spPr>
      </p:sp>
      <p:pic>
        <p:nvPicPr>
          <p:cNvPr id="5" name="Image 0" descr="icons/check_F2A65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87452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90195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377440"/>
            <a:ext cx="48463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5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TF-IDF + Logistic Regression pipeline classified hotel reviews as Happy / Not Happy with 88.3% accuracy and a 91.3% F1-score, and was deployed as a live, interactive prediction tool — proving that a lightweight model can deliver strong, practical results.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411480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0D3B57"/>
          </a:solidFill>
          <a:ln/>
        </p:spPr>
      </p:sp>
      <p:pic>
        <p:nvPicPr>
          <p:cNvPr id="9" name="Image 1" descr="icons/bulb_F2A65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315968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4343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22960" y="4754880"/>
            <a:ext cx="4846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5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3-class sentiment (positive / neutral / negative)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5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transformer models (BERT) for higher accuracy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5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a web app for hotel management dashboards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172200" y="1645920"/>
            <a:ext cx="5468112" cy="4434840"/>
          </a:xfrm>
          <a:prstGeom prst="roundRect">
            <a:avLst>
              <a:gd name="adj" fmla="val 1649"/>
            </a:avLst>
          </a:prstGeom>
          <a:solidFill>
            <a:srgbClr val="21295C"/>
          </a:solidFill>
          <a:ln w="12700">
            <a:solidFill>
              <a:srgbClr val="18506E"/>
            </a:solidFill>
            <a:prstDash val="solid"/>
          </a:ln>
        </p:spPr>
      </p:sp>
      <p:pic>
        <p:nvPicPr>
          <p:cNvPr id="13" name="Image 2" descr="icons/book_F2A65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87452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95160" y="190195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References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446520" y="2423160"/>
            <a:ext cx="489204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5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Sreenivas, G. et al., “Sentiment Analysis of Hotel Reviews – a Comparative Study,” 2023 IEEE 8th I2CT, Pune, India.
Kirilenko, A. P. et al., “Automated sentiment analysis in tourism: Comparison of approaches,” Journal of Travel Research, 2018.
Garain, A., “Hotel reviews from around the world with sentiment values,” IEEE Dataport, 2020.
Pedregosa, F. et al., “Scikit-learn: Machine Learning in Python,” JMLR, 2011.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548640" y="6172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 of Hotel Reviews  </a:t>
            </a:r>
            <a:r>
              <a:rPr lang="en-US" sz="90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Athish· </a:t>
            </a:r>
            <a:r>
              <a:rPr lang="en-US" sz="9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 (GenAI) · Alliance University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1073</Words>
  <Application>Microsoft Office PowerPoint</Application>
  <PresentationFormat>Widescreen</PresentationFormat>
  <Paragraphs>208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rajesh r</cp:lastModifiedBy>
  <cp:revision>2</cp:revision>
  <dcterms:created xsi:type="dcterms:W3CDTF">2026-08-25T06:52:15Z</dcterms:created>
  <dcterms:modified xsi:type="dcterms:W3CDTF">2026-08-25T06:57:40Z</dcterms:modified>
</cp:coreProperties>
</file>